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1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36576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A2BFFF"/>
                </a:solidFill>
                <a:latin typeface="Aptos"/>
              </a:defRPr>
            </a:pPr>
            <a:r>
              <a:t>AI PIONEERS INTERNSHIP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978408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Titanic Survival</a:t>
            </a:r>
          </a:p>
          <a:p>
            <a:pPr>
              <a:spcAft>
                <a:spcPts val="10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Prediction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987552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DCE7FA"/>
                </a:solidFill>
                <a:latin typeface="Aptos"/>
              </a:defRPr>
            </a:pPr>
            <a:r>
              <a:t>An end-to-end machine-learning capstone: prepare data, train and test a model, serialize it, and serve predictions with FastAPI.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943600"/>
            <a:ext cx="9601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BED0F0"/>
                </a:solidFill>
                <a:latin typeface="Aptos"/>
              </a:defRPr>
            </a:pPr>
            <a:r>
              <a:t>Project repository: github.com/shreyas23dev/Week-4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5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3035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2658D8"/>
                </a:solidFill>
                <a:latin typeface="Aptos"/>
              </a:defRPr>
            </a:pPr>
            <a:r>
              <a:t>WEEK 4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852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3153"/>
                </a:solidFill>
                <a:latin typeface="Aptos"/>
              </a:defRPr>
            </a:pPr>
            <a:r>
              <a:t>Problem and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F6F89"/>
                </a:solidFill>
                <a:latin typeface="Aptos"/>
              </a:defRPr>
            </a:pPr>
            <a:r>
              <a:t>AI Pioneers Internship · Titanic survival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F6F8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273348"/>
                </a:solidFill>
                <a:latin typeface="Aptos"/>
              </a:defRPr>
            </a:pPr>
            <a:r>
              <a:t>•  Demonstrate a complete supervised-learning workflow using passenger attributes.</a:t>
            </a:r>
          </a:p>
          <a:p>
            <a:pPr>
              <a:spcAft>
                <a:spcPts val="1700"/>
              </a:spcAft>
              <a:defRPr sz="2100">
                <a:solidFill>
                  <a:srgbClr val="273348"/>
                </a:solidFill>
                <a:latin typeface="Aptos"/>
              </a:defRPr>
            </a:pPr>
            <a:r>
              <a:t>•  Predict the historical target label: survived (yes/no).</a:t>
            </a:r>
          </a:p>
          <a:p>
            <a:pPr>
              <a:spcAft>
                <a:spcPts val="1700"/>
              </a:spcAft>
              <a:defRPr sz="2100">
                <a:solidFill>
                  <a:srgbClr val="273348"/>
                </a:solidFill>
                <a:latin typeface="Aptos"/>
              </a:defRPr>
            </a:pPr>
            <a:r>
              <a:t>•  Package preprocessing and the Random Forest classifier into one reusable model pipeline.</a:t>
            </a:r>
          </a:p>
          <a:p>
            <a:pPr>
              <a:spcAft>
                <a:spcPts val="1700"/>
              </a:spcAft>
              <a:defRPr sz="2100">
                <a:solidFill>
                  <a:srgbClr val="273348"/>
                </a:solidFill>
                <a:latin typeface="Aptos"/>
              </a:defRPr>
            </a:pPr>
            <a:r>
              <a:t>•  Expose a validated JSON prediction API and a simple browser 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5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3035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2658D8"/>
                </a:solidFill>
                <a:latin typeface="Aptos"/>
              </a:defRPr>
            </a:pPr>
            <a:r>
              <a:t>WEEK 4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852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3153"/>
                </a:solidFill>
                <a:latin typeface="Aptos"/>
              </a:defRPr>
            </a:pPr>
            <a:r>
              <a:t>Dataset and responsible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F6F89"/>
                </a:solidFill>
                <a:latin typeface="Aptos"/>
              </a:defRPr>
            </a:pPr>
            <a:r>
              <a:t>AI Pioneers Internship · Titanic survival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F6F8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72768"/>
            <a:ext cx="338328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D8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/>
          <a:lstStyle/>
          <a:p>
            <a:pPr algn="ctr">
              <a:spcAft>
                <a:spcPts val="900"/>
              </a:spcAft>
              <a:defRPr sz="1800" b="1">
                <a:solidFill>
                  <a:srgbClr val="2658D8"/>
                </a:solidFill>
                <a:latin typeface="Aptos Display"/>
              </a:defRPr>
            </a:pPr>
            <a:r>
              <a:t>891 passengers</a:t>
            </a:r>
          </a:p>
          <a:p>
            <a:pPr>
              <a:spcAft>
                <a:spcPts val="0"/>
              </a:spcAft>
              <a:defRPr sz="1400">
                <a:solidFill>
                  <a:srgbClr val="273348"/>
                </a:solidFill>
                <a:latin typeface="Aptos"/>
              </a:defRPr>
            </a:pPr>
            <a:r>
              <a:t>Historical Titanic records used for an educational example.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72768"/>
            <a:ext cx="338328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D8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/>
          <a:lstStyle/>
          <a:p>
            <a:pPr algn="ctr">
              <a:spcAft>
                <a:spcPts val="900"/>
              </a:spcAft>
              <a:defRPr sz="1800" b="1">
                <a:solidFill>
                  <a:srgbClr val="2658D8"/>
                </a:solidFill>
                <a:latin typeface="Aptos Display"/>
              </a:defRPr>
            </a:pPr>
            <a:r>
              <a:t>7 inputs</a:t>
            </a:r>
          </a:p>
          <a:p>
            <a:pPr>
              <a:spcAft>
                <a:spcPts val="0"/>
              </a:spcAft>
              <a:defRPr sz="1400">
                <a:solidFill>
                  <a:srgbClr val="273348"/>
                </a:solidFill>
                <a:latin typeface="Aptos"/>
              </a:defRPr>
            </a:pPr>
            <a:r>
              <a:t>Age, class, sex, family counts, fare, and embarkation 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572768"/>
            <a:ext cx="338328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D8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/>
          <a:lstStyle/>
          <a:p>
            <a:pPr algn="ctr">
              <a:spcAft>
                <a:spcPts val="900"/>
              </a:spcAft>
              <a:defRPr sz="1800" b="1">
                <a:solidFill>
                  <a:srgbClr val="2658D8"/>
                </a:solidFill>
                <a:latin typeface="Aptos Display"/>
              </a:defRPr>
            </a:pPr>
            <a:r>
              <a:t>Binary output</a:t>
            </a:r>
          </a:p>
          <a:p>
            <a:pPr>
              <a:spcAft>
                <a:spcPts val="0"/>
              </a:spcAft>
              <a:defRPr sz="1400">
                <a:solidFill>
                  <a:srgbClr val="273348"/>
                </a:solidFill>
                <a:latin typeface="Aptos"/>
              </a:defRPr>
            </a:pPr>
            <a:r>
              <a:t>Estimated class and probability for the survival target.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1051560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700"/>
              </a:spcAft>
              <a:defRPr sz="1700">
                <a:solidFill>
                  <a:srgbClr val="273348"/>
                </a:solidFill>
                <a:latin typeface="Aptos"/>
              </a:defRPr>
            </a:pPr>
            <a:r>
              <a:t>•  A stratified 80/20 split keeps survival proportions similar between train and test sets.</a:t>
            </a:r>
          </a:p>
          <a:p>
            <a:pPr>
              <a:spcAft>
                <a:spcPts val="1700"/>
              </a:spcAft>
              <a:defRPr sz="1700">
                <a:solidFill>
                  <a:srgbClr val="273348"/>
                </a:solidFill>
                <a:latin typeface="Aptos"/>
              </a:defRPr>
            </a:pPr>
            <a:r>
              <a:t>•  Target duplicates and post-outcome columns are not used as model inputs.</a:t>
            </a:r>
          </a:p>
          <a:p>
            <a:pPr>
              <a:spcAft>
                <a:spcPts val="1700"/>
              </a:spcAft>
              <a:defRPr sz="1700">
                <a:solidFill>
                  <a:srgbClr val="273348"/>
                </a:solidFill>
                <a:latin typeface="Aptos"/>
              </a:defRPr>
            </a:pPr>
            <a:r>
              <a:t>•  The output is not causal evidence and must not be used for real-world consequential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5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3035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2658D8"/>
                </a:solidFill>
                <a:latin typeface="Aptos"/>
              </a:defRPr>
            </a:pPr>
            <a:r>
              <a:t>WEEK 4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852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3153"/>
                </a:solidFill>
                <a:latin typeface="Aptos"/>
              </a:defRPr>
            </a:pPr>
            <a:r>
              <a:t>End-to-end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F6F89"/>
                </a:solidFill>
                <a:latin typeface="Aptos"/>
              </a:defRPr>
            </a:pPr>
            <a:r>
              <a:t>AI Pioneers Internship · Titanic survival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F6F8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1737360" cy="1417320"/>
          </a:xfrm>
          <a:prstGeom prst="roundRect">
            <a:avLst/>
          </a:prstGeom>
          <a:solidFill>
            <a:srgbClr val="EFF6FF"/>
          </a:solidFill>
          <a:ln>
            <a:solidFill>
              <a:srgbClr val="D8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/>
          <a:lstStyle/>
          <a:p>
            <a:pPr algn="ctr">
              <a:spcAft>
                <a:spcPts val="900"/>
              </a:spcAft>
              <a:defRPr sz="1800" b="1">
                <a:solidFill>
                  <a:srgbClr val="2658D8"/>
                </a:solidFill>
                <a:latin typeface="Aptos Display"/>
              </a:defRPr>
            </a:pPr>
            <a:r>
              <a:t>CSV data</a:t>
            </a:r>
          </a:p>
          <a:p>
            <a:pPr>
              <a:spcAft>
                <a:spcPts val="0"/>
              </a:spcAft>
              <a:defRPr sz="1400">
                <a:solidFill>
                  <a:srgbClr val="273348"/>
                </a:solidFill>
                <a:latin typeface="Aptos"/>
              </a:defRPr>
            </a:pPr>
            <a:r>
              <a:t>Titanic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331720"/>
            <a:ext cx="1737360" cy="1417320"/>
          </a:xfrm>
          <a:prstGeom prst="roundRect">
            <a:avLst/>
          </a:prstGeom>
          <a:solidFill>
            <a:srgbClr val="EFF6FF"/>
          </a:solidFill>
          <a:ln>
            <a:solidFill>
              <a:srgbClr val="D8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/>
          <a:lstStyle/>
          <a:p>
            <a:pPr algn="ctr">
              <a:spcAft>
                <a:spcPts val="900"/>
              </a:spcAft>
              <a:defRPr sz="1800" b="1">
                <a:solidFill>
                  <a:srgbClr val="2658D8"/>
                </a:solidFill>
                <a:latin typeface="Aptos Display"/>
              </a:defRPr>
            </a:pPr>
            <a:r>
              <a:t>Train / test</a:t>
            </a:r>
          </a:p>
          <a:p>
            <a:pPr>
              <a:spcAft>
                <a:spcPts val="0"/>
              </a:spcAft>
              <a:defRPr sz="1400">
                <a:solidFill>
                  <a:srgbClr val="273348"/>
                </a:solidFill>
                <a:latin typeface="Aptos"/>
              </a:defRPr>
            </a:pPr>
            <a:r>
              <a:t>Stratified 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2331720"/>
            <a:ext cx="1737360" cy="1417320"/>
          </a:xfrm>
          <a:prstGeom prst="roundRect">
            <a:avLst/>
          </a:prstGeom>
          <a:solidFill>
            <a:srgbClr val="EFF6FF"/>
          </a:solidFill>
          <a:ln>
            <a:solidFill>
              <a:srgbClr val="D8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/>
          <a:lstStyle/>
          <a:p>
            <a:pPr algn="ctr">
              <a:spcAft>
                <a:spcPts val="900"/>
              </a:spcAft>
              <a:defRPr sz="1800" b="1">
                <a:solidFill>
                  <a:srgbClr val="2658D8"/>
                </a:solidFill>
                <a:latin typeface="Aptos Display"/>
              </a:defRPr>
            </a:pPr>
            <a:r>
              <a:t>Pipeline</a:t>
            </a:r>
          </a:p>
          <a:p>
            <a:pPr>
              <a:spcAft>
                <a:spcPts val="0"/>
              </a:spcAft>
              <a:defRPr sz="1400">
                <a:solidFill>
                  <a:srgbClr val="273348"/>
                </a:solidFill>
                <a:latin typeface="Aptos"/>
              </a:defRPr>
            </a:pPr>
            <a:r>
              <a:t>Impute · encode · scale · train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331720"/>
            <a:ext cx="1737360" cy="1417320"/>
          </a:xfrm>
          <a:prstGeom prst="roundRect">
            <a:avLst/>
          </a:prstGeom>
          <a:solidFill>
            <a:srgbClr val="EFF6FF"/>
          </a:solidFill>
          <a:ln>
            <a:solidFill>
              <a:srgbClr val="D8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/>
          <a:lstStyle/>
          <a:p>
            <a:pPr algn="ctr">
              <a:spcAft>
                <a:spcPts val="900"/>
              </a:spcAft>
              <a:defRPr sz="1800" b="1">
                <a:solidFill>
                  <a:srgbClr val="2658D8"/>
                </a:solidFill>
                <a:latin typeface="Aptos Display"/>
              </a:defRPr>
            </a:pPr>
            <a:r>
              <a:t>Joblib</a:t>
            </a:r>
          </a:p>
          <a:p>
            <a:pPr>
              <a:spcAft>
                <a:spcPts val="0"/>
              </a:spcAft>
              <a:defRPr sz="1400">
                <a:solidFill>
                  <a:srgbClr val="273348"/>
                </a:solidFill>
                <a:latin typeface="Aptos"/>
              </a:defRPr>
            </a:pPr>
            <a:r>
              <a:t>Serialized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800" y="2331720"/>
            <a:ext cx="1737360" cy="1417320"/>
          </a:xfrm>
          <a:prstGeom prst="roundRect">
            <a:avLst/>
          </a:prstGeom>
          <a:solidFill>
            <a:srgbClr val="EFF6FF"/>
          </a:solidFill>
          <a:ln>
            <a:solidFill>
              <a:srgbClr val="D8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/>
          <a:lstStyle/>
          <a:p>
            <a:pPr algn="ctr">
              <a:spcAft>
                <a:spcPts val="900"/>
              </a:spcAft>
              <a:defRPr sz="1800" b="1">
                <a:solidFill>
                  <a:srgbClr val="2658D8"/>
                </a:solidFill>
                <a:latin typeface="Aptos Display"/>
              </a:defRPr>
            </a:pPr>
            <a:r>
              <a:t>FastAPI</a:t>
            </a:r>
          </a:p>
          <a:p>
            <a:pPr>
              <a:spcAft>
                <a:spcPts val="0"/>
              </a:spcAft>
              <a:defRPr sz="1400">
                <a:solidFill>
                  <a:srgbClr val="273348"/>
                </a:solidFill>
                <a:latin typeface="Aptos"/>
              </a:defRPr>
            </a:pPr>
            <a:r>
              <a:t>Web form + JSON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834640"/>
            <a:ext cx="4114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2658D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834640"/>
            <a:ext cx="4114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2658D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834640"/>
            <a:ext cx="4114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2658D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834640"/>
            <a:ext cx="4114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2658D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73348"/>
                </a:solidFill>
                <a:latin typeface="Aptos"/>
              </a:defRPr>
            </a:pPr>
            <a:r>
              <a:t>The preprocessing transformations and classifier travel together in a single saved pipeline, so API requests use the same feature preparation as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5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3035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2658D8"/>
                </a:solidFill>
                <a:latin typeface="Aptos"/>
              </a:defRPr>
            </a:pPr>
            <a:r>
              <a:t>WEEK 4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852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3153"/>
                </a:solidFill>
                <a:latin typeface="Aptos"/>
              </a:defRPr>
            </a:pPr>
            <a:r>
              <a:t>Training, testing, and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F6F89"/>
                </a:solidFill>
                <a:latin typeface="Aptos"/>
              </a:defRPr>
            </a:pPr>
            <a:r>
              <a:t>AI Pioneers Internship · Titanic survival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F6F8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493776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D8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/>
          <a:lstStyle/>
          <a:p>
            <a:pPr algn="ctr">
              <a:spcAft>
                <a:spcPts val="900"/>
              </a:spcAft>
              <a:defRPr sz="1800" b="1">
                <a:solidFill>
                  <a:srgbClr val="2658D8"/>
                </a:solidFill>
                <a:latin typeface="Aptos Display"/>
              </a:defRPr>
            </a:pPr>
            <a:r>
              <a:t>Training</a:t>
            </a:r>
          </a:p>
          <a:p>
            <a:pPr>
              <a:spcAft>
                <a:spcPts val="0"/>
              </a:spcAft>
              <a:defRPr sz="1400">
                <a:solidFill>
                  <a:srgbClr val="273348"/>
                </a:solidFill>
                <a:latin typeface="Aptos"/>
              </a:defRPr>
            </a:pPr>
            <a:r>
              <a:t>Random Forest · fixed random seed</a:t>
            </a:r>
            <a:br/>
            <a:r>
              <a:t>Median/mode imputation · one-hot encoding</a:t>
            </a:r>
            <a:br/>
            <a:r>
              <a:t>Numeric standardization fitted on training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493776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D8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/>
          <a:lstStyle/>
          <a:p>
            <a:pPr algn="ctr">
              <a:spcAft>
                <a:spcPts val="900"/>
              </a:spcAft>
              <a:defRPr sz="1800" b="1">
                <a:solidFill>
                  <a:srgbClr val="2658D8"/>
                </a:solidFill>
                <a:latin typeface="Aptos Display"/>
              </a:defRPr>
            </a:pPr>
            <a:r>
              <a:t>Held-out test evaluation</a:t>
            </a:r>
          </a:p>
          <a:p>
            <a:pPr>
              <a:spcAft>
                <a:spcPts val="0"/>
              </a:spcAft>
              <a:defRPr sz="1400">
                <a:solidFill>
                  <a:srgbClr val="273348"/>
                </a:solidFill>
                <a:latin typeface="Aptos"/>
              </a:defRPr>
            </a:pPr>
            <a:r>
              <a:t>Accuracy · precision · recall</a:t>
            </a:r>
            <a:br/>
            <a:r>
              <a:t>F1 score · ROC AUC · confusion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2011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700"/>
              </a:spcAft>
              <a:defRPr sz="1700">
                <a:solidFill>
                  <a:srgbClr val="273348"/>
                </a:solidFill>
                <a:latin typeface="Aptos"/>
              </a:defRPr>
            </a:pPr>
            <a:r>
              <a:t>•  Metrics describe performance on one test split, not a performance guarantee.</a:t>
            </a:r>
          </a:p>
          <a:p>
            <a:pPr>
              <a:spcAft>
                <a:spcPts val="1700"/>
              </a:spcAft>
              <a:defRPr sz="1700">
                <a:solidFill>
                  <a:srgbClr val="273348"/>
                </a:solidFill>
                <a:latin typeface="Aptos"/>
              </a:defRPr>
            </a:pPr>
            <a:r>
              <a:t>•  The artifact includes evaluation metadata and feature names for reproducibility.</a:t>
            </a:r>
          </a:p>
          <a:p>
            <a:pPr>
              <a:spcAft>
                <a:spcPts val="1700"/>
              </a:spcAft>
              <a:defRPr sz="1700">
                <a:solidFill>
                  <a:srgbClr val="273348"/>
                </a:solidFill>
                <a:latin typeface="Aptos"/>
              </a:defRPr>
            </a:pPr>
            <a:r>
              <a:t>•  Tests cover API validation, responses, service readiness, and the browser 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5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3035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2658D8"/>
                </a:solidFill>
                <a:latin typeface="Aptos"/>
              </a:defRPr>
            </a:pPr>
            <a:r>
              <a:t>WEEK 4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852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3153"/>
                </a:solidFill>
                <a:latin typeface="Aptos"/>
              </a:defRPr>
            </a:pPr>
            <a:r>
              <a:t>Prediction API and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F6F89"/>
                </a:solidFill>
                <a:latin typeface="Aptos"/>
              </a:defRPr>
            </a:pPr>
            <a:r>
              <a:t>AI Pioneers Internship · Titanic survival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F6F8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4937760" cy="1417320"/>
          </a:xfrm>
          <a:prstGeom prst="roundRect">
            <a:avLst/>
          </a:prstGeom>
          <a:solidFill>
            <a:srgbClr val="EFF6FF"/>
          </a:solidFill>
          <a:ln>
            <a:solidFill>
              <a:srgbClr val="D8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/>
          <a:lstStyle/>
          <a:p>
            <a:pPr algn="ctr">
              <a:spcAft>
                <a:spcPts val="900"/>
              </a:spcAft>
              <a:defRPr sz="1800" b="1">
                <a:solidFill>
                  <a:srgbClr val="2658D8"/>
                </a:solidFill>
                <a:latin typeface="Aptos Display"/>
              </a:defRPr>
            </a:pPr>
            <a:r>
              <a:t>Browser</a:t>
            </a:r>
          </a:p>
          <a:p>
            <a:pPr>
              <a:spcAft>
                <a:spcPts val="0"/>
              </a:spcAft>
              <a:defRPr sz="1400">
                <a:solidFill>
                  <a:srgbClr val="273348"/>
                </a:solidFill>
                <a:latin typeface="Aptos"/>
              </a:defRPr>
            </a:pPr>
            <a:r>
              <a:t>Open the local homepage, enter passenger features, and view the predicted label and probability.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00200"/>
            <a:ext cx="4937760" cy="1417320"/>
          </a:xfrm>
          <a:prstGeom prst="roundRect">
            <a:avLst/>
          </a:prstGeom>
          <a:solidFill>
            <a:srgbClr val="EFF6FF"/>
          </a:solidFill>
          <a:ln>
            <a:solidFill>
              <a:srgbClr val="D8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/>
          <a:lstStyle/>
          <a:p>
            <a:pPr algn="ctr">
              <a:spcAft>
                <a:spcPts val="900"/>
              </a:spcAft>
              <a:defRPr sz="1800" b="1">
                <a:solidFill>
                  <a:srgbClr val="2658D8"/>
                </a:solidFill>
                <a:latin typeface="Aptos Display"/>
              </a:defRPr>
            </a:pPr>
            <a:r>
              <a:t>REST endpoints</a:t>
            </a:r>
          </a:p>
          <a:p>
            <a:pPr>
              <a:spcAft>
                <a:spcPts val="0"/>
              </a:spcAft>
              <a:defRPr sz="1400">
                <a:solidFill>
                  <a:srgbClr val="273348"/>
                </a:solidFill>
                <a:latin typeface="Aptos"/>
              </a:defRPr>
            </a:pPr>
            <a:r>
              <a:t>GET /health · readiness</a:t>
            </a:r>
            <a:br/>
            <a:r>
              <a:t>POST /predict · validated JSON</a:t>
            </a:r>
            <a:br/>
            <a:r>
              <a:t>/docs · interactive API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57600"/>
            <a:ext cx="98755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83153"/>
                </a:solidFill>
                <a:latin typeface="Aptos"/>
              </a:defRPr>
            </a:pPr>
            <a:r>
              <a:t>Start locally with: uvicorn app:app --host 127.0.0.1 --port 8000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51960"/>
            <a:ext cx="996696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73348"/>
                </a:solidFill>
                <a:latin typeface="Aptos"/>
              </a:defRPr>
            </a:pPr>
            <a:r>
              <a:t>Before using the API, run train_model.py to create the saved Joblib pipeline. Input validation rejects unsupported categories and invalid numeric ranges.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5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3035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2658D8"/>
                </a:solidFill>
                <a:latin typeface="Aptos"/>
              </a:defRPr>
            </a:pPr>
            <a:r>
              <a:t>WEEK 4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852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3153"/>
                </a:solidFill>
                <a:latin typeface="Aptos"/>
              </a:defRPr>
            </a:pPr>
            <a:r>
              <a:t>Results, deployment,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F6F89"/>
                </a:solidFill>
                <a:latin typeface="Aptos"/>
              </a:defRPr>
            </a:pPr>
            <a:r>
              <a:t>AI Pioneers Internship · Titanic survival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F6F89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273348"/>
                </a:solidFill>
                <a:latin typeface="Aptos"/>
              </a:defRPr>
            </a:pPr>
            <a:r>
              <a:t>•  The FastAPI application is deployed and available at https://week-4-chhg.onrender.com/.</a:t>
            </a:r>
          </a:p>
          <a:p>
            <a:pPr>
              <a:spcAft>
                <a:spcPts val="1700"/>
              </a:spcAft>
              <a:defRPr sz="2000">
                <a:solidFill>
                  <a:srgbClr val="273348"/>
                </a:solidFill>
                <a:latin typeface="Aptos"/>
              </a:defRPr>
            </a:pPr>
            <a:r>
              <a:t>•  Health check: /health · Interactive API docs: /docs.</a:t>
            </a:r>
          </a:p>
          <a:p>
            <a:pPr>
              <a:spcAft>
                <a:spcPts val="1700"/>
              </a:spcAft>
              <a:defRPr sz="2000">
                <a:solidFill>
                  <a:srgbClr val="273348"/>
                </a:solidFill>
                <a:latin typeface="Aptos"/>
              </a:defRPr>
            </a:pPr>
            <a:r>
              <a:t>•  Next steps: add a container, CI checks, model-version metadata, monitoring, and additional fairness review.</a:t>
            </a:r>
          </a:p>
          <a:p>
            <a:pPr>
              <a:spcAft>
                <a:spcPts val="1700"/>
              </a:spcAft>
              <a:defRPr sz="2000">
                <a:solidFill>
                  <a:srgbClr val="273348"/>
                </a:solidFill>
                <a:latin typeface="Aptos"/>
              </a:defRPr>
            </a:pPr>
            <a:r>
              <a:t>•  Historical training labels make this a learning demonstration only, not a tool for judging real people.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